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374" r:id="rId4"/>
    <p:sldId id="372" r:id="rId5"/>
    <p:sldId id="375" r:id="rId13"/>
    <p:sldId id="376" r:id="rId14"/>
    <p:sldId id="377" r:id="rId15"/>
    <p:sldId id="378" r:id="rId16"/>
    <p:sldId id="379" r:id="rId17"/>
    <p:sldId id="380" r:id="rId18"/>
    <p:sldId id="381" r:id="rId19"/>
    <p:sldId id="373" r:id="rId6"/>
    <p:sldId id="37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  <Relationship Id="rId13" Type="http://schemas.openxmlformats.org/officeDocument/2006/relationships/slide" Target="slides/slide7.xml"/>
  <Relationship Id="rId14" Type="http://schemas.openxmlformats.org/officeDocument/2006/relationships/slide" Target="slides/slide8.xml"/>
  <Relationship Id="rId15" Type="http://schemas.openxmlformats.org/officeDocument/2006/relationships/slide" Target="slides/slide9.xml"/>
  <Relationship Id="rId16" Type="http://schemas.openxmlformats.org/officeDocument/2006/relationships/slide" Target="slides/slide10.xml"/>
  <Relationship Id="rId17" Type="http://schemas.openxmlformats.org/officeDocument/2006/relationships/slide" Target="slides/slide11.xml"/>
  <Relationship Id="rId18" Type="http://schemas.openxmlformats.org/officeDocument/2006/relationships/slide" Target="slides/slide12.xml"/>
  <Relationship Id="rId19" Type="http://schemas.openxmlformats.org/officeDocument/2006/relationships/slide" Target="slides/slide13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 txBox="1">
            <a:spLocks/>
          </p:cNvSpPr>
          <p:nvPr/>
        </p:nvSpPr>
        <p:spPr>
          <a:xfrm>
            <a:off x="840362" y="2697480"/>
            <a:ext cx="11037605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SUBJECT: </a:t>
            </a:r>
            <a:r>
              <a:rPr lang="en-US" sz="2000" b="1" i="0" dirty="0">
                <a:solidFill>
                  <a:srgbClr val="C00000"/>
                </a:solidFill>
                <a:latin typeface="Times New Roman"/>
                <a:cs typeface="Times New Roman"/>
              </a:rPr>
              <a:t>Web Programming</a:t>
            </a:r>
            <a:endParaRPr 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PROJECT: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FitTrack - Fitness Trainer and Workout Progress</a:t>
            </a:r>
          </a:p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TECHNOLOGIES: </a:t>
            </a:r>
            <a:r>
              <a:rPr lang="en-US" sz="2000" b="1" i="0" dirty="0">
                <a:solidFill>
                  <a:srgbClr val="C00000"/>
                </a:solidFill>
                <a:latin typeface="Times New Roman"/>
                <a:cs typeface="Times New Roman"/>
              </a:rPr>
              <a:t>HTML, CSS, JavaScript, Python Flask, SQLite</a:t>
            </a:r>
            <a:endParaRPr lang="en-IN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8328" y="5228206"/>
            <a:ext cx="447963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Sanjay V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</a:t>
            </a: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241901099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 txBox="1">
            <a:spLocks/>
          </p:cNvSpPr>
          <p:nvPr/>
        </p:nvSpPr>
        <p:spPr>
          <a:xfrm>
            <a:off x="708891" y="1213137"/>
            <a:ext cx="10515600" cy="1060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 Computer Science and Engineering </a:t>
            </a:r>
          </a:p>
          <a:p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(Cyber Security)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2ABC60-AF57-3F89-6270-EF5EDC1DC0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39" y="194915"/>
            <a:ext cx="2689499" cy="86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THE INDUSTRY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Intro"/>
          <p:cNvSpPr txBox="1"/>
          <p:nvPr/>
        </p:nvSpPr>
        <p:spPr>
          <a:xfrm>
            <a:off x="758952" y="1828800"/>
            <a:ext cx="548640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b="0" i="0" dirty="0">
                <a:solidFill>
                  <a:srgbClr val="262626"/>
                </a:solidFill>
                <a:latin typeface="Calibri"/>
                <a:cs typeface="Calibri"/>
              </a:rPr>
              <a:t>The fitness and health-tech industry combines exercise science with software, wearables and data analytics to help people train smarter and stay consistent.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262626"/>
                </a:solidFill>
                <a:latin typeface="Calibri"/>
                <a:cs typeface="Calibri"/>
              </a:rPr>
              <a:t>Workout logs, body measurements, trainer-designed plans and progress reviews that once lived on paper now run on web and mobile platforms.</a:t>
            </a:r>
          </a:p>
        </p:txBody>
      </p:sp>
      <p:sp>
        <p:nvSpPr>
          <p:cNvPr id="102" name="Relevance"/>
          <p:cNvSpPr/>
          <p:nvPr/>
        </p:nvSpPr>
        <p:spPr>
          <a:xfrm>
            <a:off x="758952" y="4343400"/>
            <a:ext cx="5486400" cy="1508760"/>
          </a:xfrm>
          <a:prstGeom prst="roundRect">
            <a:avLst>
              <a:gd name="adj" fmla="val 6000"/>
            </a:avLst>
          </a:prstGeom>
          <a:solidFill>
            <a:srgbClr val="8B0000"/>
          </a:solidFill>
          <a:ln>
            <a:noFill/>
          </a:ln>
        </p:spPr>
        <p:txBody>
          <a:bodyPr wrap="square" lIns="228600" tIns="91440" rIns="228600" bIns="9144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Times New Roman"/>
                <a:cs typeface="Times New Roman"/>
              </a:rPr>
              <a:t>Relevance to Cyber Security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  <a:cs typeface="Calibri"/>
              </a:rPr>
              <a:t>Fitness platforms store personal health data, so secure login, access control and safe coding are essential.</a:t>
            </a:r>
          </a:p>
        </p:txBody>
      </p:sp>
      <p:sp>
        <p:nvSpPr>
          <p:cNvPr id="103" name="Segment 1"/>
          <p:cNvSpPr/>
          <p:nvPr/>
        </p:nvSpPr>
        <p:spPr>
          <a:xfrm>
            <a:off x="6629400" y="1828800"/>
            <a:ext cx="48006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04" name="Badge 1"/>
          <p:cNvSpPr/>
          <p:nvPr/>
        </p:nvSpPr>
        <p:spPr>
          <a:xfrm>
            <a:off x="6858000" y="214884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105" name="Segment text 1"/>
          <p:cNvSpPr txBox="1"/>
          <p:nvPr/>
        </p:nvSpPr>
        <p:spPr>
          <a:xfrm>
            <a:off x="7589520" y="1938528"/>
            <a:ext cx="3703320" cy="9692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800" b="1" i="0" dirty="0">
                <a:solidFill>
                  <a:srgbClr val="8B0000"/>
                </a:solidFill>
                <a:latin typeface="Times New Roman"/>
                <a:cs typeface="Times New Roman"/>
              </a:rPr>
              <a:t>Digital Workout Tracking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Logging sets, reps, weights and calories in one place.</a:t>
            </a:r>
          </a:p>
        </p:txBody>
      </p:sp>
      <p:sp>
        <p:nvSpPr>
          <p:cNvPr id="106" name="Segment 2"/>
          <p:cNvSpPr/>
          <p:nvPr/>
        </p:nvSpPr>
        <p:spPr>
          <a:xfrm>
            <a:off x="6629400" y="3200400"/>
            <a:ext cx="48006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07" name="Badge 2"/>
          <p:cNvSpPr/>
          <p:nvPr/>
        </p:nvSpPr>
        <p:spPr>
          <a:xfrm>
            <a:off x="6858000" y="352044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108" name="Segment text 2"/>
          <p:cNvSpPr txBox="1"/>
          <p:nvPr/>
        </p:nvSpPr>
        <p:spPr>
          <a:xfrm>
            <a:off x="7589520" y="3310128"/>
            <a:ext cx="3703320" cy="9692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800" b="1" i="0" dirty="0">
                <a:solidFill>
                  <a:srgbClr val="8B0000"/>
                </a:solidFill>
                <a:latin typeface="Times New Roman"/>
                <a:cs typeface="Times New Roman"/>
              </a:rPr>
              <a:t>Remote Trainer Coaching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Trainers monitor many clients and share plans and feedback online.</a:t>
            </a:r>
          </a:p>
        </p:txBody>
      </p:sp>
      <p:sp>
        <p:nvSpPr>
          <p:cNvPr id="109" name="Segment 3"/>
          <p:cNvSpPr/>
          <p:nvPr/>
        </p:nvSpPr>
        <p:spPr>
          <a:xfrm>
            <a:off x="6629400" y="4572000"/>
            <a:ext cx="48006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10" name="Badge 3"/>
          <p:cNvSpPr/>
          <p:nvPr/>
        </p:nvSpPr>
        <p:spPr>
          <a:xfrm>
            <a:off x="6858000" y="489204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111" name="Segment text 3"/>
          <p:cNvSpPr txBox="1"/>
          <p:nvPr/>
        </p:nvSpPr>
        <p:spPr>
          <a:xfrm>
            <a:off x="7589520" y="4681728"/>
            <a:ext cx="3703320" cy="9692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800" b="1" i="0" dirty="0">
                <a:solidFill>
                  <a:srgbClr val="8B0000"/>
                </a:solidFill>
                <a:latin typeface="Times New Roman"/>
                <a:cs typeface="Times New Roman"/>
              </a:rPr>
              <a:t>Progress Analytics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Charts, streaks and goals turn raw data into motivation.</a:t>
            </a: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721B2E-B8C7-05B9-5F04-C112E1E34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ED4AC-7B43-3850-D243-BCD132E2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OBJECTIVE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Problem card"/>
          <p:cNvSpPr/>
          <p:nvPr/>
        </p:nvSpPr>
        <p:spPr>
          <a:xfrm>
            <a:off x="758952" y="1828800"/>
            <a:ext cx="507492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02" name="Problem header"/>
          <p:cNvSpPr txBox="1"/>
          <p:nvPr/>
        </p:nvSpPr>
        <p:spPr>
          <a:xfrm>
            <a:off x="1005840" y="196596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8B0000"/>
                </a:solidFill>
                <a:latin typeface="Times New Roman"/>
                <a:cs typeface="Times New Roman"/>
              </a:rPr>
              <a:t>Problem Statement</a:t>
            </a:r>
          </a:p>
        </p:txBody>
      </p:sp>
      <p:sp>
        <p:nvSpPr>
          <p:cNvPr id="103" name="Problem 1"/>
          <p:cNvSpPr/>
          <p:nvPr/>
        </p:nvSpPr>
        <p:spPr>
          <a:xfrm>
            <a:off x="1005840" y="265176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104" name="Problem text 1"/>
          <p:cNvSpPr txBox="1"/>
          <p:nvPr/>
        </p:nvSpPr>
        <p:spPr>
          <a:xfrm>
            <a:off x="1645920" y="2560320"/>
            <a:ext cx="402336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262626"/>
                </a:solidFill>
                <a:latin typeface="Calibri"/>
                <a:cs typeface="Calibri"/>
              </a:rPr>
              <a:t>Scattered records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Workouts, weights and measurements live in notebooks and separate apps.</a:t>
            </a:r>
          </a:p>
        </p:txBody>
      </p:sp>
      <p:sp>
        <p:nvSpPr>
          <p:cNvPr id="105" name="Problem 2"/>
          <p:cNvSpPr/>
          <p:nvPr/>
        </p:nvSpPr>
        <p:spPr>
          <a:xfrm>
            <a:off x="1005840" y="374904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106" name="Problem text 2"/>
          <p:cNvSpPr txBox="1"/>
          <p:nvPr/>
        </p:nvSpPr>
        <p:spPr>
          <a:xfrm>
            <a:off x="1645920" y="3657600"/>
            <a:ext cx="402336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262626"/>
                </a:solidFill>
                <a:latin typeface="Calibri"/>
                <a:cs typeface="Calibri"/>
              </a:rPr>
              <a:t>No guided routine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Beginners lack structured plans and exercise demo videos.</a:t>
            </a:r>
          </a:p>
        </p:txBody>
      </p:sp>
      <p:sp>
        <p:nvSpPr>
          <p:cNvPr id="107" name="Problem 3"/>
          <p:cNvSpPr/>
          <p:nvPr/>
        </p:nvSpPr>
        <p:spPr>
          <a:xfrm>
            <a:off x="1005840" y="484632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108" name="Problem text 3"/>
          <p:cNvSpPr txBox="1"/>
          <p:nvPr/>
        </p:nvSpPr>
        <p:spPr>
          <a:xfrm>
            <a:off x="1645920" y="4754880"/>
            <a:ext cx="402336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262626"/>
                </a:solidFill>
                <a:latin typeface="Calibri"/>
                <a:cs typeface="Calibri"/>
              </a:rPr>
              <a:t>Limited oversight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Trainers cannot see client progress or send feedback in one place.</a:t>
            </a:r>
          </a:p>
        </p:txBody>
      </p:sp>
      <p:sp>
        <p:nvSpPr>
          <p:cNvPr id="109" name="Objective card"/>
          <p:cNvSpPr/>
          <p:nvPr/>
        </p:nvSpPr>
        <p:spPr>
          <a:xfrm>
            <a:off x="6172200" y="1828800"/>
            <a:ext cx="525780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10" name="Objective header"/>
          <p:cNvSpPr txBox="1"/>
          <p:nvPr/>
        </p:nvSpPr>
        <p:spPr>
          <a:xfrm>
            <a:off x="6400800" y="196596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8B0000"/>
                </a:solidFill>
                <a:latin typeface="Times New Roman"/>
                <a:cs typeface="Times New Roman"/>
              </a:rPr>
              <a:t>Objectives of FitTrack</a:t>
            </a:r>
          </a:p>
        </p:txBody>
      </p:sp>
      <p:sp>
        <p:nvSpPr>
          <p:cNvPr id="111" name="Objective dot 1"/>
          <p:cNvSpPr/>
          <p:nvPr/>
        </p:nvSpPr>
        <p:spPr>
          <a:xfrm>
            <a:off x="6446520" y="2770632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12" name="Objective 1"/>
          <p:cNvSpPr txBox="1"/>
          <p:nvPr/>
        </p:nvSpPr>
        <p:spPr>
          <a:xfrm>
            <a:off x="6858000" y="2560320"/>
            <a:ext cx="43891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Secure registration and login with separate User and Trainer roles</a:t>
            </a:r>
          </a:p>
        </p:txBody>
      </p:sp>
      <p:sp>
        <p:nvSpPr>
          <p:cNvPr id="113" name="Objective dot 2"/>
          <p:cNvSpPr/>
          <p:nvPr/>
        </p:nvSpPr>
        <p:spPr>
          <a:xfrm>
            <a:off x="6446520" y="3429000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14" name="Objective 2"/>
          <p:cNvSpPr txBox="1"/>
          <p:nvPr/>
        </p:nvSpPr>
        <p:spPr>
          <a:xfrm>
            <a:off x="6858000" y="3218688"/>
            <a:ext cx="43891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Log workouts and body measurements; set and track goals</a:t>
            </a:r>
          </a:p>
        </p:txBody>
      </p:sp>
      <p:sp>
        <p:nvSpPr>
          <p:cNvPr id="115" name="Objective dot 3"/>
          <p:cNvSpPr/>
          <p:nvPr/>
        </p:nvSpPr>
        <p:spPr>
          <a:xfrm>
            <a:off x="6446520" y="4087368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16" name="Objective 3"/>
          <p:cNvSpPr txBox="1"/>
          <p:nvPr/>
        </p:nvSpPr>
        <p:spPr>
          <a:xfrm>
            <a:off x="6858000" y="3877056"/>
            <a:ext cx="43891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Exercise library with step-by-step guidance and demo videos</a:t>
            </a:r>
          </a:p>
        </p:txBody>
      </p:sp>
      <p:sp>
        <p:nvSpPr>
          <p:cNvPr id="117" name="Objective dot 4"/>
          <p:cNvSpPr/>
          <p:nvPr/>
        </p:nvSpPr>
        <p:spPr>
          <a:xfrm>
            <a:off x="6446520" y="4745736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18" name="Objective 4"/>
          <p:cNvSpPr txBox="1"/>
          <p:nvPr/>
        </p:nvSpPr>
        <p:spPr>
          <a:xfrm>
            <a:off x="6858000" y="4535424"/>
            <a:ext cx="43891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Trainer dashboard to monitor clients, assign plans, send feedback</a:t>
            </a:r>
          </a:p>
        </p:txBody>
      </p:sp>
      <p:sp>
        <p:nvSpPr>
          <p:cNvPr id="119" name="Objective dot 5"/>
          <p:cNvSpPr/>
          <p:nvPr/>
        </p:nvSpPr>
        <p:spPr>
          <a:xfrm>
            <a:off x="6446520" y="5404104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20" name="Objective 5"/>
          <p:cNvSpPr txBox="1"/>
          <p:nvPr/>
        </p:nvSpPr>
        <p:spPr>
          <a:xfrm>
            <a:off x="6858000" y="5193792"/>
            <a:ext cx="43891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Progress charts, workout streaks and calorie estimates</a:t>
            </a:r>
          </a:p>
        </p:txBody>
      </p:sp>
    </p:spTree>
    <p:extLst>
      <p:ext uri="{BB962C8B-B14F-4D97-AF65-F5344CB8AC3E}">
        <p14:creationId xmlns:p14="http://schemas.microsoft.com/office/powerpoint/2010/main" val="4252642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7CF5D-142D-473C-E195-36EB23B99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D407-BAD9-643C-0875-B881EC2A5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Tool card 1"/>
          <p:cNvSpPr/>
          <p:nvPr/>
        </p:nvSpPr>
        <p:spPr>
          <a:xfrm>
            <a:off x="758952" y="1828800"/>
            <a:ext cx="3374136" cy="1874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02" name="Tool badge 1"/>
          <p:cNvSpPr/>
          <p:nvPr/>
        </p:nvSpPr>
        <p:spPr>
          <a:xfrm>
            <a:off x="987552" y="2057400"/>
            <a:ext cx="685800" cy="68580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UI</a:t>
            </a:r>
          </a:p>
        </p:txBody>
      </p:sp>
      <p:sp>
        <p:nvSpPr>
          <p:cNvPr id="103" name="Tool name 1"/>
          <p:cNvSpPr txBox="1"/>
          <p:nvPr/>
        </p:nvSpPr>
        <p:spPr>
          <a:xfrm>
            <a:off x="1810512" y="2011680"/>
            <a:ext cx="2185416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100" b="1" i="0" dirty="0">
                <a:solidFill>
                  <a:srgbClr val="7030A0"/>
                </a:solidFill>
                <a:latin typeface="Calibri"/>
                <a:cs typeface="Calibri"/>
              </a:rPr>
              <a:t>FRONTEND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8B0000"/>
                </a:solidFill>
                <a:latin typeface="Times New Roman"/>
                <a:cs typeface="Times New Roman"/>
              </a:rPr>
              <a:t>HTML5 and CSS3</a:t>
            </a:r>
          </a:p>
        </p:txBody>
      </p:sp>
      <p:sp>
        <p:nvSpPr>
          <p:cNvPr id="104" name="Tool desc 1"/>
          <p:cNvSpPr txBox="1"/>
          <p:nvPr/>
        </p:nvSpPr>
        <p:spPr>
          <a:xfrm>
            <a:off x="987552" y="2926080"/>
            <a:ext cx="291693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Responsive layouts with separate User and Trainer themes.</a:t>
            </a:r>
          </a:p>
        </p:txBody>
      </p:sp>
      <p:sp>
        <p:nvSpPr>
          <p:cNvPr id="105" name="Tool card 2"/>
          <p:cNvSpPr/>
          <p:nvPr/>
        </p:nvSpPr>
        <p:spPr>
          <a:xfrm>
            <a:off x="4407408" y="1828800"/>
            <a:ext cx="3374136" cy="1874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06" name="Tool badge 2"/>
          <p:cNvSpPr/>
          <p:nvPr/>
        </p:nvSpPr>
        <p:spPr>
          <a:xfrm>
            <a:off x="4636008" y="2057400"/>
            <a:ext cx="685800" cy="6858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JS</a:t>
            </a:r>
          </a:p>
        </p:txBody>
      </p:sp>
      <p:sp>
        <p:nvSpPr>
          <p:cNvPr id="107" name="Tool name 2"/>
          <p:cNvSpPr txBox="1"/>
          <p:nvPr/>
        </p:nvSpPr>
        <p:spPr>
          <a:xfrm>
            <a:off x="5458968" y="2011680"/>
            <a:ext cx="2185416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100" b="1" i="0" dirty="0">
                <a:solidFill>
                  <a:srgbClr val="7030A0"/>
                </a:solidFill>
                <a:latin typeface="Calibri"/>
                <a:cs typeface="Calibri"/>
              </a:rPr>
              <a:t>FRONTEND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8B0000"/>
                </a:solidFill>
                <a:latin typeface="Times New Roman"/>
                <a:cs typeface="Times New Roman"/>
              </a:rPr>
              <a:t>JavaScript (ES6)</a:t>
            </a:r>
          </a:p>
        </p:txBody>
      </p:sp>
      <p:sp>
        <p:nvSpPr>
          <p:cNvPr id="108" name="Tool desc 2"/>
          <p:cNvSpPr txBox="1"/>
          <p:nvPr/>
        </p:nvSpPr>
        <p:spPr>
          <a:xfrm>
            <a:off x="4636008" y="2926080"/>
            <a:ext cx="291693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fetch() API calls, DOM updates and escaping of user text.</a:t>
            </a:r>
          </a:p>
        </p:txBody>
      </p:sp>
      <p:sp>
        <p:nvSpPr>
          <p:cNvPr id="109" name="Tool card 3"/>
          <p:cNvSpPr/>
          <p:nvPr/>
        </p:nvSpPr>
        <p:spPr>
          <a:xfrm>
            <a:off x="8055864" y="1828800"/>
            <a:ext cx="3374136" cy="1874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10" name="Tool badge 3"/>
          <p:cNvSpPr/>
          <p:nvPr/>
        </p:nvSpPr>
        <p:spPr>
          <a:xfrm>
            <a:off x="8284464" y="2057400"/>
            <a:ext cx="685800" cy="68580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Ch</a:t>
            </a:r>
          </a:p>
        </p:txBody>
      </p:sp>
      <p:sp>
        <p:nvSpPr>
          <p:cNvPr id="111" name="Tool name 3"/>
          <p:cNvSpPr txBox="1"/>
          <p:nvPr/>
        </p:nvSpPr>
        <p:spPr>
          <a:xfrm>
            <a:off x="9107424" y="2011680"/>
            <a:ext cx="2185416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100" b="1" i="0" dirty="0">
                <a:solidFill>
                  <a:srgbClr val="7030A0"/>
                </a:solidFill>
                <a:latin typeface="Calibri"/>
                <a:cs typeface="Calibri"/>
              </a:rPr>
              <a:t>VISUALISATION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8B0000"/>
                </a:solidFill>
                <a:latin typeface="Times New Roman"/>
                <a:cs typeface="Times New Roman"/>
              </a:rPr>
              <a:t>Chart.js</a:t>
            </a:r>
          </a:p>
        </p:txBody>
      </p:sp>
      <p:sp>
        <p:nvSpPr>
          <p:cNvPr id="112" name="Tool desc 3"/>
          <p:cNvSpPr txBox="1"/>
          <p:nvPr/>
        </p:nvSpPr>
        <p:spPr>
          <a:xfrm>
            <a:off x="8284464" y="2926080"/>
            <a:ext cx="291693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Weekly workout, volume and body-weight progress charts.</a:t>
            </a:r>
          </a:p>
        </p:txBody>
      </p:sp>
      <p:sp>
        <p:nvSpPr>
          <p:cNvPr id="113" name="Tool card 4"/>
          <p:cNvSpPr/>
          <p:nvPr/>
        </p:nvSpPr>
        <p:spPr>
          <a:xfrm>
            <a:off x="758952" y="3977640"/>
            <a:ext cx="3374136" cy="1874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14" name="Tool badge 4"/>
          <p:cNvSpPr/>
          <p:nvPr/>
        </p:nvSpPr>
        <p:spPr>
          <a:xfrm>
            <a:off x="987552" y="4206240"/>
            <a:ext cx="685800" cy="6858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Py</a:t>
            </a:r>
          </a:p>
        </p:txBody>
      </p:sp>
      <p:sp>
        <p:nvSpPr>
          <p:cNvPr id="115" name="Tool name 4"/>
          <p:cNvSpPr txBox="1"/>
          <p:nvPr/>
        </p:nvSpPr>
        <p:spPr>
          <a:xfrm>
            <a:off x="1810512" y="4160520"/>
            <a:ext cx="2185416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100" b="1" i="0" dirty="0">
                <a:solidFill>
                  <a:srgbClr val="7030A0"/>
                </a:solidFill>
                <a:latin typeface="Calibri"/>
                <a:cs typeface="Calibri"/>
              </a:rPr>
              <a:t>BACKEND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8B0000"/>
                </a:solidFill>
                <a:latin typeface="Times New Roman"/>
                <a:cs typeface="Times New Roman"/>
              </a:rPr>
              <a:t>Python Flask</a:t>
            </a:r>
          </a:p>
        </p:txBody>
      </p:sp>
      <p:sp>
        <p:nvSpPr>
          <p:cNvPr id="116" name="Tool desc 4"/>
          <p:cNvSpPr txBox="1"/>
          <p:nvPr/>
        </p:nvSpPr>
        <p:spPr>
          <a:xfrm>
            <a:off x="987552" y="5074920"/>
            <a:ext cx="291693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REST API, routing, sessions and role-based decorators.</a:t>
            </a:r>
          </a:p>
        </p:txBody>
      </p:sp>
      <p:sp>
        <p:nvSpPr>
          <p:cNvPr id="117" name="Tool card 5"/>
          <p:cNvSpPr/>
          <p:nvPr/>
        </p:nvSpPr>
        <p:spPr>
          <a:xfrm>
            <a:off x="4407408" y="3977640"/>
            <a:ext cx="3374136" cy="1874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18" name="Tool badge 5"/>
          <p:cNvSpPr/>
          <p:nvPr/>
        </p:nvSpPr>
        <p:spPr>
          <a:xfrm>
            <a:off x="4636008" y="4206240"/>
            <a:ext cx="685800" cy="68580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DB</a:t>
            </a:r>
          </a:p>
        </p:txBody>
      </p:sp>
      <p:sp>
        <p:nvSpPr>
          <p:cNvPr id="119" name="Tool name 5"/>
          <p:cNvSpPr txBox="1"/>
          <p:nvPr/>
        </p:nvSpPr>
        <p:spPr>
          <a:xfrm>
            <a:off x="5458968" y="4160520"/>
            <a:ext cx="2185416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100" b="1" i="0" dirty="0">
                <a:solidFill>
                  <a:srgbClr val="7030A0"/>
                </a:solidFill>
                <a:latin typeface="Calibri"/>
                <a:cs typeface="Calibri"/>
              </a:rPr>
              <a:t>DATABASE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8B0000"/>
                </a:solidFill>
                <a:latin typeface="Times New Roman"/>
                <a:cs typeface="Times New Roman"/>
              </a:rPr>
              <a:t>SQLite</a:t>
            </a:r>
          </a:p>
        </p:txBody>
      </p:sp>
      <p:sp>
        <p:nvSpPr>
          <p:cNvPr id="120" name="Tool desc 5"/>
          <p:cNvSpPr txBox="1"/>
          <p:nvPr/>
        </p:nvSpPr>
        <p:spPr>
          <a:xfrm>
            <a:off x="4636008" y="5074920"/>
            <a:ext cx="291693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Relational storage with foreign keys across 8 tables.</a:t>
            </a:r>
          </a:p>
        </p:txBody>
      </p:sp>
      <p:sp>
        <p:nvSpPr>
          <p:cNvPr id="121" name="Tool card 6"/>
          <p:cNvSpPr/>
          <p:nvPr/>
        </p:nvSpPr>
        <p:spPr>
          <a:xfrm>
            <a:off x="8055864" y="3977640"/>
            <a:ext cx="3374136" cy="1874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22" name="Tool badge 6"/>
          <p:cNvSpPr/>
          <p:nvPr/>
        </p:nvSpPr>
        <p:spPr>
          <a:xfrm>
            <a:off x="8284464" y="4206240"/>
            <a:ext cx="685800" cy="6858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Sec</a:t>
            </a:r>
          </a:p>
        </p:txBody>
      </p:sp>
      <p:sp>
        <p:nvSpPr>
          <p:cNvPr id="123" name="Tool name 6"/>
          <p:cNvSpPr txBox="1"/>
          <p:nvPr/>
        </p:nvSpPr>
        <p:spPr>
          <a:xfrm>
            <a:off x="9107424" y="4160520"/>
            <a:ext cx="2185416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100" b="1" i="0" dirty="0">
                <a:solidFill>
                  <a:srgbClr val="7030A0"/>
                </a:solidFill>
                <a:latin typeface="Calibri"/>
                <a:cs typeface="Calibri"/>
              </a:rPr>
              <a:t>SECURITY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8B0000"/>
                </a:solidFill>
                <a:latin typeface="Times New Roman"/>
                <a:cs typeface="Times New Roman"/>
              </a:rPr>
              <a:t>Werkzeug Security</a:t>
            </a:r>
          </a:p>
        </p:txBody>
      </p:sp>
      <p:sp>
        <p:nvSpPr>
          <p:cNvPr id="124" name="Tool desc 6"/>
          <p:cNvSpPr txBox="1"/>
          <p:nvPr/>
        </p:nvSpPr>
        <p:spPr>
          <a:xfrm>
            <a:off x="8284464" y="5074920"/>
            <a:ext cx="291693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Password hashing and session-based authentication.</a:t>
            </a:r>
          </a:p>
        </p:txBody>
      </p:sp>
    </p:spTree>
    <p:extLst>
      <p:ext uri="{BB962C8B-B14F-4D97-AF65-F5344CB8AC3E}">
        <p14:creationId xmlns:p14="http://schemas.microsoft.com/office/powerpoint/2010/main" val="3617216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009753-C4D8-9F9F-5F3B-413B1F1F1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C0CA3-23DD-EDD9-49C4-2C279BCB2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OUTCOME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Stat card 1"/>
          <p:cNvSpPr/>
          <p:nvPr/>
        </p:nvSpPr>
        <p:spPr>
          <a:xfrm>
            <a:off x="758952" y="1828800"/>
            <a:ext cx="24231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02" name="Stat value 1"/>
          <p:cNvSpPr txBox="1"/>
          <p:nvPr/>
        </p:nvSpPr>
        <p:spPr>
          <a:xfrm>
            <a:off x="758952" y="1920240"/>
            <a:ext cx="24231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dirty="0">
                <a:solidFill>
                  <a:srgbClr val="8B0000"/>
                </a:solidFill>
                <a:latin typeface="Times New Roman"/>
                <a:cs typeface="Times New Roman"/>
              </a:rPr>
              <a:t>29</a:t>
            </a:r>
          </a:p>
        </p:txBody>
      </p:sp>
      <p:sp>
        <p:nvSpPr>
          <p:cNvPr id="103" name="Stat label 1"/>
          <p:cNvSpPr txBox="1"/>
          <p:nvPr/>
        </p:nvSpPr>
        <p:spPr>
          <a:xfrm>
            <a:off x="758952" y="269748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REST API endpoints</a:t>
            </a:r>
          </a:p>
        </p:txBody>
      </p:sp>
      <p:sp>
        <p:nvSpPr>
          <p:cNvPr id="104" name="Stat card 2"/>
          <p:cNvSpPr/>
          <p:nvPr/>
        </p:nvSpPr>
        <p:spPr>
          <a:xfrm>
            <a:off x="3508248" y="1828800"/>
            <a:ext cx="24231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05" name="Stat value 2"/>
          <p:cNvSpPr txBox="1"/>
          <p:nvPr/>
        </p:nvSpPr>
        <p:spPr>
          <a:xfrm>
            <a:off x="3508248" y="1920240"/>
            <a:ext cx="24231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dirty="0">
                <a:solidFill>
                  <a:srgbClr val="8B0000"/>
                </a:solidFill>
                <a:latin typeface="Times New Roman"/>
                <a:cs typeface="Times New Roman"/>
              </a:rPr>
              <a:t>8</a:t>
            </a:r>
          </a:p>
        </p:txBody>
      </p:sp>
      <p:sp>
        <p:nvSpPr>
          <p:cNvPr id="106" name="Stat label 2"/>
          <p:cNvSpPr txBox="1"/>
          <p:nvPr/>
        </p:nvSpPr>
        <p:spPr>
          <a:xfrm>
            <a:off x="3508248" y="269748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Database tables</a:t>
            </a:r>
          </a:p>
        </p:txBody>
      </p:sp>
      <p:sp>
        <p:nvSpPr>
          <p:cNvPr id="107" name="Stat card 3"/>
          <p:cNvSpPr/>
          <p:nvPr/>
        </p:nvSpPr>
        <p:spPr>
          <a:xfrm>
            <a:off x="6257544" y="1828800"/>
            <a:ext cx="24231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08" name="Stat value 3"/>
          <p:cNvSpPr txBox="1"/>
          <p:nvPr/>
        </p:nvSpPr>
        <p:spPr>
          <a:xfrm>
            <a:off x="6257544" y="1920240"/>
            <a:ext cx="24231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dirty="0">
                <a:solidFill>
                  <a:srgbClr val="8B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109" name="Stat label 3"/>
          <p:cNvSpPr txBox="1"/>
          <p:nvPr/>
        </p:nvSpPr>
        <p:spPr>
          <a:xfrm>
            <a:off x="6257544" y="269748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User roles</a:t>
            </a:r>
          </a:p>
        </p:txBody>
      </p:sp>
      <p:sp>
        <p:nvSpPr>
          <p:cNvPr id="110" name="Stat card 4"/>
          <p:cNvSpPr/>
          <p:nvPr/>
        </p:nvSpPr>
        <p:spPr>
          <a:xfrm>
            <a:off x="9006840" y="1828800"/>
            <a:ext cx="24231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11" name="Stat value 4"/>
          <p:cNvSpPr txBox="1"/>
          <p:nvPr/>
        </p:nvSpPr>
        <p:spPr>
          <a:xfrm>
            <a:off x="9006840" y="1920240"/>
            <a:ext cx="24231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dirty="0">
                <a:solidFill>
                  <a:srgbClr val="8B0000"/>
                </a:solidFill>
                <a:latin typeface="Times New Roman"/>
                <a:cs typeface="Times New Roman"/>
              </a:rPr>
              <a:t>15</a:t>
            </a:r>
          </a:p>
        </p:txBody>
      </p:sp>
      <p:sp>
        <p:nvSpPr>
          <p:cNvPr id="112" name="Stat label 4"/>
          <p:cNvSpPr txBox="1"/>
          <p:nvPr/>
        </p:nvSpPr>
        <p:spPr>
          <a:xfrm>
            <a:off x="9006840" y="269748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Exercises with guides</a:t>
            </a:r>
          </a:p>
        </p:txBody>
      </p:sp>
      <p:sp>
        <p:nvSpPr>
          <p:cNvPr id="113" name="Skills card"/>
          <p:cNvSpPr/>
          <p:nvPr/>
        </p:nvSpPr>
        <p:spPr>
          <a:xfrm>
            <a:off x="758952" y="3520440"/>
            <a:ext cx="521208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14" name="Skills card header"/>
          <p:cNvSpPr txBox="1"/>
          <p:nvPr/>
        </p:nvSpPr>
        <p:spPr>
          <a:xfrm>
            <a:off x="987552" y="361188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8B0000"/>
                </a:solidFill>
                <a:latin typeface="Times New Roman"/>
                <a:cs typeface="Times New Roman"/>
              </a:rPr>
              <a:t>Skills Gained</a:t>
            </a:r>
          </a:p>
        </p:txBody>
      </p:sp>
      <p:sp>
        <p:nvSpPr>
          <p:cNvPr id="115" name="Skills card list"/>
          <p:cNvSpPr txBox="1"/>
          <p:nvPr/>
        </p:nvSpPr>
        <p:spPr>
          <a:xfrm>
            <a:off x="987552" y="4114800"/>
            <a:ext cx="475488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Full-stack development with Flask and JavaScript</a:t>
            </a:r>
          </a:p>
          <a:p>
            <a:pPr algn="l" marL="228600" indent="-228600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REST API and relational database design</a:t>
            </a:r>
          </a:p>
          <a:p>
            <a:pPr algn="l" marL="228600" indent="-228600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Secure coding: authentication, authorization, input handling</a:t>
            </a:r>
          </a:p>
          <a:p>
            <a:pPr algn="l" marL="228600" indent="-228600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Testing, debugging and documentation</a:t>
            </a:r>
          </a:p>
        </p:txBody>
      </p:sp>
      <p:sp>
        <p:nvSpPr>
          <p:cNvPr id="116" name="Future card"/>
          <p:cNvSpPr/>
          <p:nvPr/>
        </p:nvSpPr>
        <p:spPr>
          <a:xfrm>
            <a:off x="6217920" y="3520440"/>
            <a:ext cx="521208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17" name="Future card header"/>
          <p:cNvSpPr txBox="1"/>
          <p:nvPr/>
        </p:nvSpPr>
        <p:spPr>
          <a:xfrm>
            <a:off x="6446520" y="361188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8B0000"/>
                </a:solidFill>
                <a:latin typeface="Times New Roman"/>
                <a:cs typeface="Times New Roman"/>
              </a:rPr>
              <a:t>Future Scope</a:t>
            </a:r>
          </a:p>
        </p:txBody>
      </p:sp>
      <p:sp>
        <p:nvSpPr>
          <p:cNvPr id="118" name="Future card list"/>
          <p:cNvSpPr txBox="1"/>
          <p:nvPr/>
        </p:nvSpPr>
        <p:spPr>
          <a:xfrm>
            <a:off x="6446520" y="4114800"/>
            <a:ext cx="475488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Password reset and email verification</a:t>
            </a:r>
          </a:p>
          <a:p>
            <a:pPr algn="l" marL="228600" indent="-228600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Deployment on PostgreSQL with a production server and HTTPS</a:t>
            </a:r>
          </a:p>
          <a:p>
            <a:pPr algn="l" marL="228600" indent="-228600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Day-wise plan tracking and progress reminders</a:t>
            </a:r>
          </a:p>
        </p:txBody>
      </p:sp>
    </p:spTree>
    <p:extLst>
      <p:ext uri="{BB962C8B-B14F-4D97-AF65-F5344CB8AC3E}">
        <p14:creationId xmlns:p14="http://schemas.microsoft.com/office/powerpoint/2010/main" val="2051030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34088EE-409A-43D4-40D1-E46BE8E6B81A}"/>
              </a:ext>
            </a:extLst>
          </p:cNvPr>
          <p:cNvSpPr txBox="1"/>
          <p:nvPr/>
        </p:nvSpPr>
        <p:spPr>
          <a:xfrm>
            <a:off x="768096" y="960120"/>
            <a:ext cx="1005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IN" sz="32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Conclusion card"/>
          <p:cNvSpPr/>
          <p:nvPr/>
        </p:nvSpPr>
        <p:spPr>
          <a:xfrm>
            <a:off x="758952" y="1828800"/>
            <a:ext cx="676656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02" name="Conclusion header"/>
          <p:cNvSpPr txBox="1"/>
          <p:nvPr/>
        </p:nvSpPr>
        <p:spPr>
          <a:xfrm>
            <a:off x="1005840" y="1965960"/>
            <a:ext cx="6309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8B0000"/>
                </a:solidFill>
                <a:latin typeface="Times New Roman"/>
                <a:cs typeface="Times New Roman"/>
              </a:rPr>
              <a:t>Key Takeaways</a:t>
            </a:r>
          </a:p>
        </p:txBody>
      </p:sp>
      <p:sp>
        <p:nvSpPr>
          <p:cNvPr id="103" name="Conclusion list"/>
          <p:cNvSpPr txBox="1"/>
          <p:nvPr/>
        </p:nvSpPr>
        <p:spPr>
          <a:xfrm>
            <a:off x="1005840" y="2560320"/>
            <a:ext cx="6309360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800" b="0" i="0" dirty="0">
                <a:solidFill>
                  <a:srgbClr val="262626"/>
                </a:solidFill>
                <a:latin typeface="Calibri"/>
                <a:cs typeface="Calibri"/>
              </a:rPr>
              <a:t>FitTrack delivers a complete workflow: users log workouts and track progress, trainers monitor clients and assign plans.</a:t>
            </a: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800" b="0" i="0" dirty="0">
                <a:solidFill>
                  <a:srgbClr val="262626"/>
                </a:solidFill>
                <a:latin typeface="Calibri"/>
                <a:cs typeface="Calibri"/>
              </a:rPr>
              <a:t>Security is built in: hashed passwords, role-based access, parameterised queries and output escaping.</a:t>
            </a: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800" b="0" i="0" dirty="0">
                <a:solidFill>
                  <a:srgbClr val="262626"/>
                </a:solidFill>
                <a:latin typeface="Calibri"/>
                <a:cs typeface="Calibri"/>
              </a:rPr>
              <a:t>The system uses HTML, CSS and JavaScript on the front end with a Flask REST API and SQLite database.</a:t>
            </a:r>
          </a:p>
        </p:txBody>
      </p:sp>
      <p:sp>
        <p:nvSpPr>
          <p:cNvPr id="104" name="Thank you card"/>
          <p:cNvSpPr/>
          <p:nvPr/>
        </p:nvSpPr>
        <p:spPr>
          <a:xfrm>
            <a:off x="7818120" y="1828800"/>
            <a:ext cx="3611880" cy="4069080"/>
          </a:xfrm>
          <a:prstGeom prst="roundRect">
            <a:avLst>
              <a:gd name="adj" fmla="val 4000"/>
            </a:avLst>
          </a:prstGeom>
          <a:solidFill>
            <a:srgbClr val="8B0000"/>
          </a:solidFill>
          <a:ln>
            <a:noFill/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182880" tIns="91440" rIns="182880" bIns="9144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1400"/>
              </a:spcAft>
              <a:buNone/>
            </a:pPr>
            <a:r>
              <a:rPr lang="en-US" sz="3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Thank You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libri"/>
                <a:cs typeface="Calibri"/>
              </a:rPr>
              <a:t>Sanjay V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b="0" i="0" dirty="0">
                <a:solidFill>
                  <a:srgbClr val="FFFFFF"/>
                </a:solidFill>
                <a:latin typeface="Calibri"/>
                <a:cs typeface="Calibri"/>
              </a:rPr>
              <a:t>241901099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FFFFFF"/>
                </a:solidFill>
                <a:latin typeface="Calibri"/>
                <a:cs typeface="Calibri"/>
              </a:rPr>
              <a:t>Cyber Security</a:t>
            </a:r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7CF5D-142D-473C-E195-36EB23B99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D407-BAD9-643C-0875-B881EC2A5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AND IMPLEMENTATION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Flow box 1"/>
          <p:cNvSpPr/>
          <p:nvPr/>
        </p:nvSpPr>
        <p:spPr>
          <a:xfrm>
            <a:off x="758952" y="1828800"/>
            <a:ext cx="2240280" cy="1325880"/>
          </a:xfrm>
          <a:prstGeom prst="roundRect">
            <a:avLst>
              <a:gd name="adj" fmla="val 8000"/>
            </a:avLst>
          </a:prstGeom>
          <a:solidFill>
            <a:srgbClr val="8B0000"/>
          </a:solidFill>
          <a:ln>
            <a:noFill/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109728" tIns="73152" rIns="109728" bIns="73152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Times New Roman"/>
                <a:cs typeface="Times New Roman"/>
              </a:rPr>
              <a:t>1. Browser UI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  <a:cs typeface="Calibri"/>
              </a:rPr>
              <a:t>HTML, CSS and JavaScript</a:t>
            </a:r>
          </a:p>
        </p:txBody>
      </p:sp>
      <p:sp>
        <p:nvSpPr>
          <p:cNvPr id="102" name="Flow arrow 1"/>
          <p:cNvSpPr/>
          <p:nvPr/>
        </p:nvSpPr>
        <p:spPr>
          <a:xfrm>
            <a:off x="3090672" y="2350008"/>
            <a:ext cx="384048" cy="27432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03" name="Flow box 2"/>
          <p:cNvSpPr/>
          <p:nvPr/>
        </p:nvSpPr>
        <p:spPr>
          <a:xfrm>
            <a:off x="3566160" y="1828800"/>
            <a:ext cx="2240280" cy="132588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109728" tIns="73152" rIns="109728" bIns="73152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Times New Roman"/>
                <a:cs typeface="Times New Roman"/>
              </a:rPr>
              <a:t>2. JSON Request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  <a:cs typeface="Calibri"/>
              </a:rPr>
              <a:t>fetch() sends data, e.g. POST /api/workouts</a:t>
            </a:r>
          </a:p>
        </p:txBody>
      </p:sp>
      <p:sp>
        <p:nvSpPr>
          <p:cNvPr id="104" name="Flow arrow 2"/>
          <p:cNvSpPr/>
          <p:nvPr/>
        </p:nvSpPr>
        <p:spPr>
          <a:xfrm>
            <a:off x="5897880" y="2350008"/>
            <a:ext cx="384048" cy="27432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05" name="Flow box 3"/>
          <p:cNvSpPr/>
          <p:nvPr/>
        </p:nvSpPr>
        <p:spPr>
          <a:xfrm>
            <a:off x="6373368" y="1828800"/>
            <a:ext cx="2240280" cy="1325880"/>
          </a:xfrm>
          <a:prstGeom prst="roundRect">
            <a:avLst>
              <a:gd name="adj" fmla="val 8000"/>
            </a:avLst>
          </a:prstGeom>
          <a:solidFill>
            <a:srgbClr val="8B0000"/>
          </a:solidFill>
          <a:ln>
            <a:noFill/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109728" tIns="73152" rIns="109728" bIns="73152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Times New Roman"/>
                <a:cs typeface="Times New Roman"/>
              </a:rPr>
              <a:t>3. Flask API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  <a:cs typeface="Calibri"/>
              </a:rPr>
              <a:t>Checks session, validates input</a:t>
            </a:r>
          </a:p>
        </p:txBody>
      </p:sp>
      <p:sp>
        <p:nvSpPr>
          <p:cNvPr id="106" name="Flow arrow 3"/>
          <p:cNvSpPr/>
          <p:nvPr/>
        </p:nvSpPr>
        <p:spPr>
          <a:xfrm>
            <a:off x="8705088" y="2350008"/>
            <a:ext cx="384048" cy="27432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07" name="Flow box 4"/>
          <p:cNvSpPr/>
          <p:nvPr/>
        </p:nvSpPr>
        <p:spPr>
          <a:xfrm>
            <a:off x="9180576" y="1828800"/>
            <a:ext cx="2240280" cy="132588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109728" tIns="73152" rIns="109728" bIns="73152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Times New Roman"/>
                <a:cs typeface="Times New Roman"/>
              </a:rPr>
              <a:t>4. SQLite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  <a:cs typeface="Calibri"/>
              </a:rPr>
              <a:t>Parameterised query, JSON reply</a:t>
            </a:r>
          </a:p>
        </p:txBody>
      </p:sp>
      <p:sp>
        <p:nvSpPr>
          <p:cNvPr id="108" name="User module"/>
          <p:cNvSpPr/>
          <p:nvPr/>
        </p:nvSpPr>
        <p:spPr>
          <a:xfrm>
            <a:off x="758952" y="3429000"/>
            <a:ext cx="521208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09" name="User module header"/>
          <p:cNvSpPr txBox="1"/>
          <p:nvPr/>
        </p:nvSpPr>
        <p:spPr>
          <a:xfrm>
            <a:off x="987552" y="352044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8B0000"/>
                </a:solidFill>
                <a:latin typeface="Times New Roman"/>
                <a:cs typeface="Times New Roman"/>
              </a:rPr>
              <a:t>User Module</a:t>
            </a:r>
          </a:p>
        </p:txBody>
      </p:sp>
      <p:sp>
        <p:nvSpPr>
          <p:cNvPr id="110" name="User module list"/>
          <p:cNvSpPr txBox="1"/>
          <p:nvPr/>
        </p:nvSpPr>
        <p:spPr>
          <a:xfrm>
            <a:off x="987552" y="4023360"/>
            <a:ext cx="4754880" cy="1783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Dashboard with streak, calories and trainer notes</a:t>
            </a:r>
          </a:p>
          <a:p>
            <a:pPr algn="l" marL="228600" indent="-228600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Exercise library with video popup</a:t>
            </a:r>
          </a:p>
          <a:p>
            <a:pPr algn="l" marL="228600" indent="-228600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Workout logging and CSV export</a:t>
            </a:r>
          </a:p>
          <a:p>
            <a:pPr algn="l" marL="228600" indent="-228600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My Plans, goals and progress charts</a:t>
            </a:r>
          </a:p>
        </p:txBody>
      </p:sp>
      <p:sp>
        <p:nvSpPr>
          <p:cNvPr id="111" name="Trainer module"/>
          <p:cNvSpPr/>
          <p:nvPr/>
        </p:nvSpPr>
        <p:spPr>
          <a:xfrm>
            <a:off x="6217920" y="3429000"/>
            <a:ext cx="521208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12" name="Trainer module header"/>
          <p:cNvSpPr txBox="1"/>
          <p:nvPr/>
        </p:nvSpPr>
        <p:spPr>
          <a:xfrm>
            <a:off x="6446520" y="352044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8B0000"/>
                </a:solidFill>
                <a:latin typeface="Times New Roman"/>
                <a:cs typeface="Times New Roman"/>
              </a:rPr>
              <a:t>Trainer Module</a:t>
            </a:r>
          </a:p>
        </p:txBody>
      </p:sp>
      <p:sp>
        <p:nvSpPr>
          <p:cNvPr id="113" name="Trainer module list"/>
          <p:cNvSpPr txBox="1"/>
          <p:nvPr/>
        </p:nvSpPr>
        <p:spPr>
          <a:xfrm>
            <a:off x="6446520" y="4023360"/>
            <a:ext cx="4754880" cy="1783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Client list with weekly activity and weight change</a:t>
            </a:r>
          </a:p>
          <a:p>
            <a:pPr algn="l" marL="228600" indent="-228600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Client charts, workouts and goals</a:t>
            </a:r>
          </a:p>
          <a:p>
            <a:pPr algn="l" marL="228600" indent="-228600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Assign plans and send feedback notes</a:t>
            </a:r>
          </a:p>
          <a:p>
            <a:pPr algn="l" marL="228600" indent="-228600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Create plans; add exercises and videos</a:t>
            </a:r>
          </a:p>
        </p:txBody>
      </p:sp>
    </p:spTree>
    <p:extLst>
      <p:ext uri="{BB962C8B-B14F-4D97-AF65-F5344CB8AC3E}">
        <p14:creationId xmlns:p14="http://schemas.microsoft.com/office/powerpoint/2010/main" val="3617216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7CF5D-142D-473C-E195-36EB23B99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D407-BAD9-643C-0875-B881EC2A5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AND SECURITY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Database card"/>
          <p:cNvSpPr/>
          <p:nvPr/>
        </p:nvSpPr>
        <p:spPr>
          <a:xfrm>
            <a:off x="758952" y="1828800"/>
            <a:ext cx="484632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02" name="Database header"/>
          <p:cNvSpPr txBox="1"/>
          <p:nvPr/>
        </p:nvSpPr>
        <p:spPr>
          <a:xfrm>
            <a:off x="987552" y="1938528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8B0000"/>
                </a:solidFill>
                <a:latin typeface="Times New Roman"/>
                <a:cs typeface="Times New Roman"/>
              </a:rPr>
              <a:t>Database Design (SQLite)</a:t>
            </a:r>
          </a:p>
        </p:txBody>
      </p:sp>
      <p:sp>
        <p:nvSpPr>
          <p:cNvPr id="103" name="Table chip 1"/>
          <p:cNvSpPr/>
          <p:nvPr/>
        </p:nvSpPr>
        <p:spPr>
          <a:xfrm>
            <a:off x="987552" y="25146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BEEEE"/>
          </a:solidFill>
          <a:ln w="9525">
            <a:solidFill>
              <a:srgbClr val="E2CFCF"/>
            </a:solidFill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8B0000"/>
                </a:solidFill>
                <a:latin typeface="Calibri"/>
                <a:cs typeface="Calibri"/>
              </a:rPr>
              <a:t>users</a:t>
            </a:r>
          </a:p>
        </p:txBody>
      </p:sp>
      <p:sp>
        <p:nvSpPr>
          <p:cNvPr id="104" name="Table chip 2"/>
          <p:cNvSpPr/>
          <p:nvPr/>
        </p:nvSpPr>
        <p:spPr>
          <a:xfrm>
            <a:off x="3182112" y="25146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BEEEE"/>
          </a:solidFill>
          <a:ln w="9525">
            <a:solidFill>
              <a:srgbClr val="E2CFCF"/>
            </a:solidFill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8B0000"/>
                </a:solidFill>
                <a:latin typeface="Calibri"/>
                <a:cs typeface="Calibri"/>
              </a:rPr>
              <a:t>exercises</a:t>
            </a:r>
          </a:p>
        </p:txBody>
      </p:sp>
      <p:sp>
        <p:nvSpPr>
          <p:cNvPr id="105" name="Table chip 3"/>
          <p:cNvSpPr/>
          <p:nvPr/>
        </p:nvSpPr>
        <p:spPr>
          <a:xfrm>
            <a:off x="987552" y="3081528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BEEEE"/>
          </a:solidFill>
          <a:ln w="9525">
            <a:solidFill>
              <a:srgbClr val="E2CFCF"/>
            </a:solidFill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8B0000"/>
                </a:solidFill>
                <a:latin typeface="Calibri"/>
                <a:cs typeface="Calibri"/>
              </a:rPr>
              <a:t>workouts</a:t>
            </a:r>
          </a:p>
        </p:txBody>
      </p:sp>
      <p:sp>
        <p:nvSpPr>
          <p:cNvPr id="106" name="Table chip 4"/>
          <p:cNvSpPr/>
          <p:nvPr/>
        </p:nvSpPr>
        <p:spPr>
          <a:xfrm>
            <a:off x="3182112" y="3081528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BEEEE"/>
          </a:solidFill>
          <a:ln w="9525">
            <a:solidFill>
              <a:srgbClr val="E2CFCF"/>
            </a:solidFill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8B0000"/>
                </a:solidFill>
                <a:latin typeface="Calibri"/>
                <a:cs typeface="Calibri"/>
              </a:rPr>
              <a:t>plans</a:t>
            </a:r>
          </a:p>
        </p:txBody>
      </p:sp>
      <p:sp>
        <p:nvSpPr>
          <p:cNvPr id="107" name="Table chip 5"/>
          <p:cNvSpPr/>
          <p:nvPr/>
        </p:nvSpPr>
        <p:spPr>
          <a:xfrm>
            <a:off x="987552" y="3648456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BEEEE"/>
          </a:solidFill>
          <a:ln w="9525">
            <a:solidFill>
              <a:srgbClr val="E2CFCF"/>
            </a:solidFill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8B0000"/>
                </a:solidFill>
                <a:latin typeface="Calibri"/>
                <a:cs typeface="Calibri"/>
              </a:rPr>
              <a:t>plan_exercises</a:t>
            </a:r>
          </a:p>
        </p:txBody>
      </p:sp>
      <p:sp>
        <p:nvSpPr>
          <p:cNvPr id="108" name="Table chip 6"/>
          <p:cNvSpPr/>
          <p:nvPr/>
        </p:nvSpPr>
        <p:spPr>
          <a:xfrm>
            <a:off x="3182112" y="3648456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BEEEE"/>
          </a:solidFill>
          <a:ln w="9525">
            <a:solidFill>
              <a:srgbClr val="E2CFCF"/>
            </a:solidFill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8B0000"/>
                </a:solidFill>
                <a:latin typeface="Calibri"/>
                <a:cs typeface="Calibri"/>
              </a:rPr>
              <a:t>measurements</a:t>
            </a:r>
          </a:p>
        </p:txBody>
      </p:sp>
      <p:sp>
        <p:nvSpPr>
          <p:cNvPr id="109" name="Table chip 7"/>
          <p:cNvSpPr/>
          <p:nvPr/>
        </p:nvSpPr>
        <p:spPr>
          <a:xfrm>
            <a:off x="987552" y="4215384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BEEEE"/>
          </a:solidFill>
          <a:ln w="9525">
            <a:solidFill>
              <a:srgbClr val="E2CFCF"/>
            </a:solidFill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8B0000"/>
                </a:solidFill>
                <a:latin typeface="Calibri"/>
                <a:cs typeface="Calibri"/>
              </a:rPr>
              <a:t>goals</a:t>
            </a:r>
          </a:p>
        </p:txBody>
      </p:sp>
      <p:sp>
        <p:nvSpPr>
          <p:cNvPr id="110" name="Table chip 8"/>
          <p:cNvSpPr/>
          <p:nvPr/>
        </p:nvSpPr>
        <p:spPr>
          <a:xfrm>
            <a:off x="3182112" y="4215384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BEEEE"/>
          </a:solidFill>
          <a:ln w="9525">
            <a:solidFill>
              <a:srgbClr val="E2CFCF"/>
            </a:solidFill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8B0000"/>
                </a:solidFill>
                <a:latin typeface="Calibri"/>
                <a:cs typeface="Calibri"/>
              </a:rPr>
              <a:t>trainer_notes</a:t>
            </a:r>
          </a:p>
        </p:txBody>
      </p:sp>
      <p:sp>
        <p:nvSpPr>
          <p:cNvPr id="111" name="Database note"/>
          <p:cNvSpPr txBox="1"/>
          <p:nvPr/>
        </p:nvSpPr>
        <p:spPr>
          <a:xfrm>
            <a:off x="987552" y="4846320"/>
            <a:ext cx="438912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A user has many workouts, measurements and goals. plan_exercises links plans and exercises (many-to-many).</a:t>
            </a:r>
          </a:p>
        </p:txBody>
      </p:sp>
      <p:sp>
        <p:nvSpPr>
          <p:cNvPr id="112" name="Security card"/>
          <p:cNvSpPr/>
          <p:nvPr/>
        </p:nvSpPr>
        <p:spPr>
          <a:xfrm>
            <a:off x="5897880" y="1828800"/>
            <a:ext cx="553212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13" name="Security header"/>
          <p:cNvSpPr txBox="1"/>
          <p:nvPr/>
        </p:nvSpPr>
        <p:spPr>
          <a:xfrm>
            <a:off x="6126480" y="1938528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8B0000"/>
                </a:solidFill>
                <a:latin typeface="Times New Roman"/>
                <a:cs typeface="Times New Roman"/>
              </a:rPr>
              <a:t>Security Features</a:t>
            </a:r>
          </a:p>
        </p:txBody>
      </p:sp>
      <p:sp>
        <p:nvSpPr>
          <p:cNvPr id="114" name="Security badge 1"/>
          <p:cNvSpPr/>
          <p:nvPr/>
        </p:nvSpPr>
        <p:spPr>
          <a:xfrm>
            <a:off x="6126480" y="2542032"/>
            <a:ext cx="411480" cy="4114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115" name="Security item 1"/>
          <p:cNvSpPr txBox="1"/>
          <p:nvPr/>
        </p:nvSpPr>
        <p:spPr>
          <a:xfrm>
            <a:off x="6675120" y="246888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62626"/>
                </a:solidFill>
                <a:latin typeface="Calibri"/>
                <a:cs typeface="Calibri"/>
              </a:rPr>
              <a:t>Password hashing: </a:t>
            </a: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Werkzeug hashes passwords; none stored as plain text.</a:t>
            </a:r>
          </a:p>
        </p:txBody>
      </p:sp>
      <p:sp>
        <p:nvSpPr>
          <p:cNvPr id="116" name="Security badge 2"/>
          <p:cNvSpPr/>
          <p:nvPr/>
        </p:nvSpPr>
        <p:spPr>
          <a:xfrm>
            <a:off x="6126480" y="3218688"/>
            <a:ext cx="411480" cy="4114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117" name="Security item 2"/>
          <p:cNvSpPr txBox="1"/>
          <p:nvPr/>
        </p:nvSpPr>
        <p:spPr>
          <a:xfrm>
            <a:off x="6675120" y="3145536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62626"/>
                </a:solidFill>
                <a:latin typeface="Calibri"/>
                <a:cs typeface="Calibri"/>
              </a:rPr>
              <a:t>Role-based access: </a:t>
            </a: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@login_required and @admin_required protect restricted routes.</a:t>
            </a:r>
          </a:p>
        </p:txBody>
      </p:sp>
      <p:sp>
        <p:nvSpPr>
          <p:cNvPr id="118" name="Security badge 3"/>
          <p:cNvSpPr/>
          <p:nvPr/>
        </p:nvSpPr>
        <p:spPr>
          <a:xfrm>
            <a:off x="6126480" y="3895344"/>
            <a:ext cx="411480" cy="4114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119" name="Security item 3"/>
          <p:cNvSpPr txBox="1"/>
          <p:nvPr/>
        </p:nvSpPr>
        <p:spPr>
          <a:xfrm>
            <a:off x="6675120" y="3822192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62626"/>
                </a:solidFill>
                <a:latin typeface="Calibri"/>
                <a:cs typeface="Calibri"/>
              </a:rPr>
              <a:t>SQL injection defence: </a:t>
            </a: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All queries use ? placeholders.</a:t>
            </a:r>
          </a:p>
        </p:txBody>
      </p:sp>
      <p:sp>
        <p:nvSpPr>
          <p:cNvPr id="120" name="Security badge 4"/>
          <p:cNvSpPr/>
          <p:nvPr/>
        </p:nvSpPr>
        <p:spPr>
          <a:xfrm>
            <a:off x="6126480" y="4572000"/>
            <a:ext cx="411480" cy="4114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121" name="Security item 4"/>
          <p:cNvSpPr txBox="1"/>
          <p:nvPr/>
        </p:nvSpPr>
        <p:spPr>
          <a:xfrm>
            <a:off x="6675120" y="4498848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62626"/>
                </a:solidFill>
                <a:latin typeface="Calibri"/>
                <a:cs typeface="Calibri"/>
              </a:rPr>
              <a:t>XSS defence: </a:t>
            </a: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User text is escaped with esc() before display.</a:t>
            </a:r>
          </a:p>
        </p:txBody>
      </p:sp>
      <p:sp>
        <p:nvSpPr>
          <p:cNvPr id="122" name="Security badge 5"/>
          <p:cNvSpPr/>
          <p:nvPr/>
        </p:nvSpPr>
        <p:spPr>
          <a:xfrm>
            <a:off x="6126480" y="5248656"/>
            <a:ext cx="411480" cy="4114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</a:p>
        </p:txBody>
      </p:sp>
      <p:sp>
        <p:nvSpPr>
          <p:cNvPr id="123" name="Security item 5"/>
          <p:cNvSpPr txBox="1"/>
          <p:nvPr/>
        </p:nvSpPr>
        <p:spPr>
          <a:xfrm>
            <a:off x="6675120" y="5175504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62626"/>
                </a:solidFill>
                <a:latin typeface="Calibri"/>
                <a:cs typeface="Calibri"/>
              </a:rPr>
              <a:t>Data isolation: </a:t>
            </a: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Queries filter by user_id; video links limited to YouTube or local files.</a:t>
            </a:r>
          </a:p>
        </p:txBody>
      </p:sp>
    </p:spTree>
    <p:extLst>
      <p:ext uri="{BB962C8B-B14F-4D97-AF65-F5344CB8AC3E}">
        <p14:creationId xmlns:p14="http://schemas.microsoft.com/office/powerpoint/2010/main" val="3617216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7CF5D-142D-473C-E195-36EB23B99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D407-BAD9-643C-0875-B881EC2A5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CODE: DATABASE SETUP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1" name="Code card"/>
          <p:cNvSpPr/>
          <p:nvPr/>
        </p:nvSpPr>
        <p:spPr>
          <a:xfrm>
            <a:off x="758952" y="1828800"/>
            <a:ext cx="10671048" cy="4572000"/>
          </a:xfrm>
          <a:prstGeom prst="roundRect">
            <a:avLst>
              <a:gd name="adj" fmla="val 2500"/>
            </a:avLst>
          </a:prstGeom>
          <a:solidFill>
            <a:srgbClr val="1E1E1E"/>
          </a:solidFill>
          <a:ln>
            <a:noFill/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45720" tIns="0" rIns="45720" bIns="0" anchor="ctr" rtlCol="0">
            <a:noAutofit/>
          </a:bodyPr>
          <a:lstStyle/>
          <a:p>
            <a:endParaRPr lang="en-US"/>
          </a:p>
        </p:txBody>
      </p:sp>
      <p:sp>
        <p:nvSpPr>
          <p:cNvPr id="202" name="File chip"/>
          <p:cNvSpPr/>
          <p:nvPr/>
        </p:nvSpPr>
        <p:spPr>
          <a:xfrm>
            <a:off x="987552" y="1947672"/>
            <a:ext cx="1005840" cy="320040"/>
          </a:xfrm>
          <a:prstGeom prst="roundRect">
            <a:avLst>
              <a:gd name="adj" fmla="val 25000"/>
            </a:avLst>
          </a:prstGeom>
          <a:solidFill>
            <a:srgbClr val="8B0000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app.py</a:t>
            </a:r>
          </a:p>
        </p:txBody>
      </p:sp>
      <p:sp>
        <p:nvSpPr>
          <p:cNvPr id="203" name="Caption"/>
          <p:cNvSpPr txBox="1"/>
          <p:nvPr/>
        </p:nvSpPr>
        <p:spPr>
          <a:xfrm>
            <a:off x="2176272" y="1947672"/>
            <a:ext cx="902512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C9D1D9"/>
                </a:solidFill>
                <a:latin typeface="Calibri"/>
                <a:cs typeface="Calibri"/>
              </a:rPr>
              <a:t>Excerpt: 3 of the 8 tables (users, workouts, plan_exercises) with foreign keys</a:t>
            </a:r>
          </a:p>
        </p:txBody>
      </p:sp>
      <p:sp>
        <p:nvSpPr>
          <p:cNvPr id="204" name="Code column 1"/>
          <p:cNvSpPr txBox="1"/>
          <p:nvPr/>
        </p:nvSpPr>
        <p:spPr>
          <a:xfrm>
            <a:off x="987552" y="2404872"/>
            <a:ext cx="4969764" cy="3858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def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D2A8FF"/>
                </a:solidFill>
                <a:latin typeface="Courier New"/>
                <a:cs typeface="Courier New"/>
              </a:rPr>
              <a:t>connect_db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():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db = sqlite3.connect(DATABASE)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db.row_factory = sqlite3.Row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db.execute(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"PRAGMA foreign_keys = ON"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return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db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def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D2A8FF"/>
                </a:solidFill>
                <a:latin typeface="Courier New"/>
                <a:cs typeface="Courier New"/>
              </a:rPr>
              <a:t>setup_database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():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with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connect_db()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as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db: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db.executescript(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"""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CREATE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TABLE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IF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NOT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EXISTS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users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id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INTEGER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PRIMARY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KEY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AUTOINCREMENT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name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TEXT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NOT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NULL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email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TEXT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NOT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NULL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UNIQUE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password_hash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TEXT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NOT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NULL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role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TEXT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NOT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NULL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DEFAULT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'user'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CHECK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(role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IN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(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'user'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,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'admin'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)),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height_cm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REAL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, created_at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TEXT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NOT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NULL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plan_id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INTEGER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REFERENCES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plans(id)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ON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DELETE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SET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NULL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);</a:t>
            </a:r>
          </a:p>
        </p:txBody>
      </p:sp>
      <p:sp>
        <p:nvSpPr>
          <p:cNvPr id="205" name="Code column 2"/>
          <p:cNvSpPr txBox="1"/>
          <p:nvPr/>
        </p:nvSpPr>
        <p:spPr>
          <a:xfrm>
            <a:off x="6231636" y="2404872"/>
            <a:ext cx="4969764" cy="3858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CREATE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TABLE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IF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NOT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EXISTS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workouts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id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INTEGER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PRIMARY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KEY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AUTOINCREMENT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user_id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INTEGER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NOT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NULL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REFERENCES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users(id)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ON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DELETE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CASCADE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exercise_id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INTEGER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NOT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NULL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REFERENCES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exercises(id)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ON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DELETE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CASCADE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sets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INTEGER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NOT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NULL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DEFAULT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1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reps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INTEGER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NOT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NULL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DEFAULT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1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weight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REAL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NOT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NULL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DEFAULT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0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duration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INTEGER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NOT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NULL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DEFAULT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0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workout_date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TEXT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NOT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NULL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CREATE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TABLE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IF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NOT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EXISTS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plan_exercises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id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INTEGER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PRIMARY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KEY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AUTOINCREMENT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plan_id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INTEGER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NOT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NULL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REFERENCES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plans(id)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ON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DELETE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CASCADE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exercise_id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INTEGER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NOT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NULL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REFERENCES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exercises(id)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ON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DELETE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CASCADE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day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INTEGER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NOT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NULL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, sets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INTEGER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NOT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NULL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reps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INTEGER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NOT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NULL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390851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7CF5D-142D-473C-E195-36EB23B99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D407-BAD9-643C-0875-B881EC2A5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CODE: LOGIN AND SECURITY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1" name="Code card"/>
          <p:cNvSpPr/>
          <p:nvPr/>
        </p:nvSpPr>
        <p:spPr>
          <a:xfrm>
            <a:off x="758952" y="1828800"/>
            <a:ext cx="10671048" cy="4572000"/>
          </a:xfrm>
          <a:prstGeom prst="roundRect">
            <a:avLst>
              <a:gd name="adj" fmla="val 2500"/>
            </a:avLst>
          </a:prstGeom>
          <a:solidFill>
            <a:srgbClr val="1E1E1E"/>
          </a:solidFill>
          <a:ln>
            <a:noFill/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45720" tIns="0" rIns="45720" bIns="0" anchor="ctr" rtlCol="0">
            <a:noAutofit/>
          </a:bodyPr>
          <a:lstStyle/>
          <a:p>
            <a:endParaRPr lang="en-US"/>
          </a:p>
        </p:txBody>
      </p:sp>
      <p:sp>
        <p:nvSpPr>
          <p:cNvPr id="202" name="File chip"/>
          <p:cNvSpPr/>
          <p:nvPr/>
        </p:nvSpPr>
        <p:spPr>
          <a:xfrm>
            <a:off x="987552" y="1947672"/>
            <a:ext cx="1005840" cy="320040"/>
          </a:xfrm>
          <a:prstGeom prst="roundRect">
            <a:avLst>
              <a:gd name="adj" fmla="val 25000"/>
            </a:avLst>
          </a:prstGeom>
          <a:solidFill>
            <a:srgbClr val="8B0000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app.py</a:t>
            </a:r>
          </a:p>
        </p:txBody>
      </p:sp>
      <p:sp>
        <p:nvSpPr>
          <p:cNvPr id="203" name="Caption"/>
          <p:cNvSpPr txBox="1"/>
          <p:nvPr/>
        </p:nvSpPr>
        <p:spPr>
          <a:xfrm>
            <a:off x="2176272" y="1947672"/>
            <a:ext cx="902512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C9D1D9"/>
                </a:solidFill>
                <a:latin typeface="Calibri"/>
                <a:cs typeface="Calibri"/>
              </a:rPr>
              <a:t>Role-based decorators, password hashing and session login</a:t>
            </a:r>
          </a:p>
        </p:txBody>
      </p:sp>
      <p:sp>
        <p:nvSpPr>
          <p:cNvPr id="204" name="Code column 1"/>
          <p:cNvSpPr txBox="1"/>
          <p:nvPr/>
        </p:nvSpPr>
        <p:spPr>
          <a:xfrm>
            <a:off x="987552" y="2404872"/>
            <a:ext cx="4572000" cy="3858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def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D2A8FF"/>
                </a:solidFill>
                <a:latin typeface="Courier New"/>
                <a:cs typeface="Courier New"/>
              </a:rPr>
              <a:t>login_required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(view):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</a:t>
            </a:r>
            <a:r>
              <a:rPr lang="en-US" sz="1100" b="0" i="0" dirty="0">
                <a:solidFill>
                  <a:srgbClr val="D2A8FF"/>
                </a:solidFill>
                <a:latin typeface="Courier New"/>
                <a:cs typeface="Courier New"/>
              </a:rPr>
              <a:t>@wraps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(view)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def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D2A8FF"/>
                </a:solidFill>
                <a:latin typeface="Courier New"/>
                <a:cs typeface="Courier New"/>
              </a:rPr>
              <a:t>wrapper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(*args, **kwargs):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if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"user_id"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not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in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session: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return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error(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"Please log in."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,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401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return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view(*args, **kwargs)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return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wrapper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def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D2A8FF"/>
                </a:solidFill>
                <a:latin typeface="Courier New"/>
                <a:cs typeface="Courier New"/>
              </a:rPr>
              <a:t>admin_required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(view):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</a:t>
            </a:r>
            <a:r>
              <a:rPr lang="en-US" sz="1100" b="0" i="0" dirty="0">
                <a:solidFill>
                  <a:srgbClr val="D2A8FF"/>
                </a:solidFill>
                <a:latin typeface="Courier New"/>
                <a:cs typeface="Courier New"/>
              </a:rPr>
              <a:t>@wraps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(view)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def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D2A8FF"/>
                </a:solidFill>
                <a:latin typeface="Courier New"/>
                <a:cs typeface="Courier New"/>
              </a:rPr>
              <a:t>wrapper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(*args, **kwargs):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if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"user_id"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not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in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session: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return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error(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"Please log in."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,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401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if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session.get(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"role"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) !=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"admin"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return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error(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       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"Trainer/admin access only."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,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403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return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view(*args, **kwargs)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return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wrapper</a:t>
            </a:r>
          </a:p>
        </p:txBody>
      </p:sp>
      <p:sp>
        <p:nvSpPr>
          <p:cNvPr id="205" name="Code column 2"/>
          <p:cNvSpPr txBox="1"/>
          <p:nvPr/>
        </p:nvSpPr>
        <p:spPr>
          <a:xfrm>
            <a:off x="5833872" y="2404872"/>
            <a:ext cx="5367528" cy="3858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8B949E"/>
                </a:solidFill>
                <a:latin typeface="Courier New"/>
                <a:cs typeface="Courier New"/>
              </a:rPr>
              <a:t># register(): only the password HASH is stored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uid = db.execute(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"INSERT INTO users (name, email, password_hash, 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"height_cm, created_at) VALUES (?,?,?,?,?)"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(name, email, generate_password_hash(password),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height, date.today().isoformat())).lastrowid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session.update(user_id=uid, role=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"user"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8B949E"/>
                </a:solidFill>
                <a:latin typeface="Courier New"/>
                <a:cs typeface="Courier New"/>
              </a:rPr>
              <a:t># login(): verify the hash, then start the session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user = db.execute(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"SELECT * FROM users WHERE email=?"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(str(d.get(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"email"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,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)).strip().lower(),)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).fetchone()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if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not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user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or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not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check_password_hash(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user[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"password_hash"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], str(d.get(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"password"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,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))):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return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error(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"Wrong email or password."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,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401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session.update(user_id=user[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"id"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], role=user[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"role"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1647892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7CF5D-142D-473C-E195-36EB23B99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D407-BAD9-643C-0875-B881EC2A5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CODE: REST API ENDPOINTS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1" name="Code card"/>
          <p:cNvSpPr/>
          <p:nvPr/>
        </p:nvSpPr>
        <p:spPr>
          <a:xfrm>
            <a:off x="758952" y="1828800"/>
            <a:ext cx="10671048" cy="4572000"/>
          </a:xfrm>
          <a:prstGeom prst="roundRect">
            <a:avLst>
              <a:gd name="adj" fmla="val 2500"/>
            </a:avLst>
          </a:prstGeom>
          <a:solidFill>
            <a:srgbClr val="1E1E1E"/>
          </a:solidFill>
          <a:ln>
            <a:noFill/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45720" tIns="0" rIns="45720" bIns="0" anchor="ctr" rtlCol="0">
            <a:noAutofit/>
          </a:bodyPr>
          <a:lstStyle/>
          <a:p>
            <a:endParaRPr lang="en-US"/>
          </a:p>
        </p:txBody>
      </p:sp>
      <p:sp>
        <p:nvSpPr>
          <p:cNvPr id="202" name="File chip"/>
          <p:cNvSpPr/>
          <p:nvPr/>
        </p:nvSpPr>
        <p:spPr>
          <a:xfrm>
            <a:off x="987552" y="1947672"/>
            <a:ext cx="1005840" cy="320040"/>
          </a:xfrm>
          <a:prstGeom prst="roundRect">
            <a:avLst>
              <a:gd name="adj" fmla="val 25000"/>
            </a:avLst>
          </a:prstGeom>
          <a:solidFill>
            <a:srgbClr val="8B0000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app.py</a:t>
            </a:r>
          </a:p>
        </p:txBody>
      </p:sp>
      <p:sp>
        <p:nvSpPr>
          <p:cNvPr id="203" name="Caption"/>
          <p:cNvSpPr txBox="1"/>
          <p:nvPr/>
        </p:nvSpPr>
        <p:spPr>
          <a:xfrm>
            <a:off x="2176272" y="1947672"/>
            <a:ext cx="902512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C9D1D9"/>
                </a:solidFill>
                <a:latin typeface="Calibri"/>
                <a:cs typeface="Calibri"/>
              </a:rPr>
              <a:t>User and trainer endpoints: validation, ? placeholders, JSON replies</a:t>
            </a:r>
          </a:p>
        </p:txBody>
      </p:sp>
      <p:sp>
        <p:nvSpPr>
          <p:cNvPr id="204" name="Code column 1"/>
          <p:cNvSpPr txBox="1"/>
          <p:nvPr/>
        </p:nvSpPr>
        <p:spPr>
          <a:xfrm>
            <a:off x="987552" y="2404872"/>
            <a:ext cx="4969764" cy="3858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D2A8FF"/>
                </a:solidFill>
                <a:latin typeface="Courier New"/>
                <a:cs typeface="Courier New"/>
              </a:rPr>
              <a:t>@app.post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(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"/api/workouts"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D2A8FF"/>
                </a:solidFill>
                <a:latin typeface="Courier New"/>
                <a:cs typeface="Courier New"/>
              </a:rPr>
              <a:t>@login_required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def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D2A8FF"/>
                </a:solidFill>
                <a:latin typeface="Courier New"/>
                <a:cs typeface="Courier New"/>
              </a:rPr>
              <a:t>create_workout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():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fields, msg = workout_fields(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request.get_json(silent=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True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)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or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{})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if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msg: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return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error(msg)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with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connect_db()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as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db: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if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not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db.execute(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       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"SELECT 1 FROM exercises WHERE id=?"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        (fields[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0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],)).fetchone():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return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error(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"Exercise not found."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,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404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wid = db.execute(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   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"INSERT INTO workouts (user_id, exercise_id, 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   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"sets, reps, weight, duration, workout_date) 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   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"VALUES (?,?,?,?,?,?,?)"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    (session[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"user_id"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], *fields)).lastrowid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return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jsonify(dict(db.execute(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    WORKOUT_SQL +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 AND w.id=?"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    (session[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"user_id"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], wid)).fetchone())),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201</a:t>
            </a:r>
          </a:p>
        </p:txBody>
      </p:sp>
      <p:sp>
        <p:nvSpPr>
          <p:cNvPr id="205" name="Code column 2"/>
          <p:cNvSpPr txBox="1"/>
          <p:nvPr/>
        </p:nvSpPr>
        <p:spPr>
          <a:xfrm>
            <a:off x="6231636" y="2404872"/>
            <a:ext cx="4969764" cy="3858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D2A8FF"/>
                </a:solidFill>
                <a:latin typeface="Courier New"/>
                <a:cs typeface="Courier New"/>
              </a:rPr>
              <a:t>@app.put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(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"/api/trainer/clients/&lt;int:cid&gt;/plan"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D2A8FF"/>
                </a:solidFill>
                <a:latin typeface="Courier New"/>
                <a:cs typeface="Courier New"/>
              </a:rPr>
              <a:t>@admin_required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def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D2A8FF"/>
                </a:solidFill>
                <a:latin typeface="Courier New"/>
                <a:cs typeface="Courier New"/>
              </a:rPr>
              <a:t>trainer_assign_plan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(cid):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plan_id = (request.get_json(silent=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True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   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or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{}).get(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"plan_id"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with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connect_db()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as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db: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if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not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get_client(db, cid):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return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error(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"Client not found."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,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404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if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plan_id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and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not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db.execute(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       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"SELECT 1 FROM plans WHERE id=?"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        (plan_id,)).fetchone():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return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error(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"Plan not found."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,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404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db.execute(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   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"UPDATE users SET plan_id=? WHERE id=?"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    (plan_id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or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None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, cid))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return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jsonify({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"message"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: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"Plan assigned."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})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8B949E"/>
                </a:solidFill>
                <a:latin typeface="Courier New"/>
                <a:cs typeface="Courier New"/>
              </a:rPr>
              <a:t># workout_fields(): server-side validation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if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min(sets, reps, duration) &lt;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0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or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sets &gt;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100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\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or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reps &gt;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1000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or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weight &lt;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0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or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duration &gt;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600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return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None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,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"Enter realistic positive values."</a:t>
            </a:r>
          </a:p>
        </p:txBody>
      </p:sp>
    </p:spTree>
    <p:extLst>
      <p:ext uri="{BB962C8B-B14F-4D97-AF65-F5344CB8AC3E}">
        <p14:creationId xmlns:p14="http://schemas.microsoft.com/office/powerpoint/2010/main" val="26957539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7CF5D-142D-473C-E195-36EB23B99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D407-BAD9-643C-0875-B881EC2A5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CODE: FRONTEND JAVASCRIPT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1" name="Code card"/>
          <p:cNvSpPr/>
          <p:nvPr/>
        </p:nvSpPr>
        <p:spPr>
          <a:xfrm>
            <a:off x="758952" y="1828800"/>
            <a:ext cx="10671048" cy="4572000"/>
          </a:xfrm>
          <a:prstGeom prst="roundRect">
            <a:avLst>
              <a:gd name="adj" fmla="val 2500"/>
            </a:avLst>
          </a:prstGeom>
          <a:solidFill>
            <a:srgbClr val="1E1E1E"/>
          </a:solidFill>
          <a:ln>
            <a:noFill/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45720" tIns="0" rIns="45720" bIns="0" anchor="ctr" rtlCol="0">
            <a:noAutofit/>
          </a:bodyPr>
          <a:lstStyle/>
          <a:p>
            <a:endParaRPr lang="en-US"/>
          </a:p>
        </p:txBody>
      </p:sp>
      <p:sp>
        <p:nvSpPr>
          <p:cNvPr id="202" name="File chip"/>
          <p:cNvSpPr/>
          <p:nvPr/>
        </p:nvSpPr>
        <p:spPr>
          <a:xfrm>
            <a:off x="987552" y="1947672"/>
            <a:ext cx="1554480" cy="320040"/>
          </a:xfrm>
          <a:prstGeom prst="roundRect">
            <a:avLst>
              <a:gd name="adj" fmla="val 25000"/>
            </a:avLst>
          </a:prstGeom>
          <a:solidFill>
            <a:srgbClr val="8B0000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static/app.js</a:t>
            </a:r>
          </a:p>
        </p:txBody>
      </p:sp>
      <p:sp>
        <p:nvSpPr>
          <p:cNvPr id="203" name="Caption"/>
          <p:cNvSpPr txBox="1"/>
          <p:nvPr/>
        </p:nvSpPr>
        <p:spPr>
          <a:xfrm>
            <a:off x="2724912" y="1947672"/>
            <a:ext cx="847648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C9D1D9"/>
                </a:solidFill>
                <a:latin typeface="Calibri"/>
                <a:cs typeface="Calibri"/>
              </a:rPr>
              <a:t>esc() blocks XSS, api() wraps fetch(), drawChart() uses Chart.js</a:t>
            </a:r>
          </a:p>
        </p:txBody>
      </p:sp>
      <p:sp>
        <p:nvSpPr>
          <p:cNvPr id="204" name="Code column 1"/>
          <p:cNvSpPr txBox="1"/>
          <p:nvPr/>
        </p:nvSpPr>
        <p:spPr>
          <a:xfrm>
            <a:off x="987552" y="2404872"/>
            <a:ext cx="5577840" cy="3858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function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D2A8FF"/>
                </a:solidFill>
                <a:latin typeface="Courier New"/>
                <a:cs typeface="Courier New"/>
              </a:rPr>
              <a:t>esc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(value =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)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</a:t>
            </a:r>
            <a:r>
              <a:rPr lang="en-US" sz="1100" b="0" i="0" dirty="0">
                <a:solidFill>
                  <a:srgbClr val="8B949E"/>
                </a:solidFill>
                <a:latin typeface="Courier New"/>
                <a:cs typeface="Courier New"/>
              </a:rPr>
              <a:t>// stops XSS: user text is never inserted as raw HTML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return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String(value).replace(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/[&amp;&lt;&gt;"']/g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, (c) =&gt; ({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"&amp;"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: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"&amp;amp;"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,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"&lt;"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: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"&amp;lt;"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,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"&gt;"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: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"&amp;gt;"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'"'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: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"&amp;quot;"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,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"'"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: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"&amp;#39;"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}[c]));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async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function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D2A8FF"/>
                </a:solidFill>
                <a:latin typeface="Courier New"/>
                <a:cs typeface="Courier New"/>
              </a:rPr>
              <a:t>api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(url, options = {})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if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(options.body &amp;&amp; !(options.body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instanceof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FormData))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options.headers = {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"Content-Type"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: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"application/json"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};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options.body = JSON.stringify(options.body);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const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response =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await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fetch(url, options);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const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data =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await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response.json().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catch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(() =&gt; ({}));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if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(!response.ok)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throw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new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Error(data.error ||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"Something went wrong."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return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data;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205" name="Code column 2"/>
          <p:cNvSpPr txBox="1"/>
          <p:nvPr/>
        </p:nvSpPr>
        <p:spPr>
          <a:xfrm>
            <a:off x="6839712" y="2404872"/>
            <a:ext cx="4361688" cy="3858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function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D2A8FF"/>
                </a:solidFill>
                <a:latin typeface="Courier New"/>
                <a:cs typeface="Courier New"/>
              </a:rPr>
              <a:t>drawChart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(selector, type, labels,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           data, label)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if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(charts[selector])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charts[selector].destroy();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delete charts[selector];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const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canvas = $(selector);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const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color = brand();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const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isLine = type ===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"line"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</a:t>
            </a:r>
            <a:r>
              <a:rPr lang="en-US" sz="1100" b="0" i="0" dirty="0">
                <a:solidFill>
                  <a:srgbClr val="8B949E"/>
                </a:solidFill>
                <a:latin typeface="Courier New"/>
                <a:cs typeface="Courier New"/>
              </a:rPr>
              <a:t>// ... empty-state handling omitted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charts[selector] =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new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Chart(canvas,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type,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data: { labels, datasets: [{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label, data, borderColor: color,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fill: isLine, tension: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0.35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}] },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options: { responsive: true,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plugins: { legend: { display: false } } },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});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957422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7CF5D-142D-473C-E195-36EB23B99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D407-BAD9-643C-0875-B881EC2A5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CODE: HTML AND CSS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1" name="Code card"/>
          <p:cNvSpPr/>
          <p:nvPr/>
        </p:nvSpPr>
        <p:spPr>
          <a:xfrm>
            <a:off x="758952" y="1828800"/>
            <a:ext cx="10671048" cy="4572000"/>
          </a:xfrm>
          <a:prstGeom prst="roundRect">
            <a:avLst>
              <a:gd name="adj" fmla="val 2500"/>
            </a:avLst>
          </a:prstGeom>
          <a:solidFill>
            <a:srgbClr val="1E1E1E"/>
          </a:solidFill>
          <a:ln>
            <a:noFill/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45720" tIns="0" rIns="45720" bIns="0" anchor="ctr" rtlCol="0">
            <a:noAutofit/>
          </a:bodyPr>
          <a:lstStyle/>
          <a:p>
            <a:endParaRPr lang="en-US"/>
          </a:p>
        </p:txBody>
      </p:sp>
      <p:sp>
        <p:nvSpPr>
          <p:cNvPr id="202" name="File chip"/>
          <p:cNvSpPr/>
          <p:nvPr/>
        </p:nvSpPr>
        <p:spPr>
          <a:xfrm>
            <a:off x="987552" y="1947672"/>
            <a:ext cx="2377440" cy="320040"/>
          </a:xfrm>
          <a:prstGeom prst="roundRect">
            <a:avLst>
              <a:gd name="adj" fmla="val 25000"/>
            </a:avLst>
          </a:prstGeom>
          <a:solidFill>
            <a:srgbClr val="8B0000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index.html  |  style.css</a:t>
            </a:r>
          </a:p>
        </p:txBody>
      </p:sp>
      <p:sp>
        <p:nvSpPr>
          <p:cNvPr id="203" name="Caption"/>
          <p:cNvSpPr txBox="1"/>
          <p:nvPr/>
        </p:nvSpPr>
        <p:spPr>
          <a:xfrm>
            <a:off x="3547872" y="1947672"/>
            <a:ext cx="765352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C9D1D9"/>
                </a:solidFill>
                <a:latin typeface="Calibri"/>
                <a:cs typeface="Calibri"/>
              </a:rPr>
              <a:t>Login form markup, theme variables and a separate trainer theme</a:t>
            </a:r>
          </a:p>
        </p:txBody>
      </p:sp>
      <p:sp>
        <p:nvSpPr>
          <p:cNvPr id="204" name="Code column 1"/>
          <p:cNvSpPr txBox="1"/>
          <p:nvPr/>
        </p:nvSpPr>
        <p:spPr>
          <a:xfrm>
            <a:off x="987552" y="2404872"/>
            <a:ext cx="4969764" cy="3858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&lt;main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id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=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"auth-view"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class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=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"auth"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&lt;div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class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=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"card"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&lt;h1&gt;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FitTrack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&lt;/h1&gt;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&lt;div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class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=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"tabs"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&lt;button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id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=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"tab-login"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class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=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"tab active"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     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type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=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"button"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&gt;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Login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&lt;/button&gt;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&lt;button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id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=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"tab-register"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class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=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"tab"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     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type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=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"button"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&gt;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Register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&lt;/button&gt;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&lt;/div&gt;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&lt;form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id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=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"login-form"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&lt;label&gt;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Email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&lt;input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name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=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"email"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type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=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"email"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required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&lt;/label&gt;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&lt;label&gt;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Password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&lt;input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name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=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"password"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type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=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"password"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required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&lt;/label&gt;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&lt;button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class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=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"btn"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type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=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"submit"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&gt;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Login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&lt;/button&gt;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&lt;/form&gt;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</a:t>
            </a: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&lt;/div&gt;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FF7B72"/>
                </a:solidFill>
                <a:latin typeface="Courier New"/>
                <a:cs typeface="Courier New"/>
              </a:rPr>
              <a:t>&lt;/main&gt;</a:t>
            </a:r>
          </a:p>
        </p:txBody>
      </p:sp>
      <p:sp>
        <p:nvSpPr>
          <p:cNvPr id="205" name="Code column 2"/>
          <p:cNvSpPr txBox="1"/>
          <p:nvPr/>
        </p:nvSpPr>
        <p:spPr>
          <a:xfrm>
            <a:off x="6231636" y="2404872"/>
            <a:ext cx="4969764" cy="3858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D2A8FF"/>
                </a:solidFill>
                <a:latin typeface="Courier New"/>
                <a:cs typeface="Courier New"/>
              </a:rPr>
              <a:t xml:space="preserve">:root 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{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--brand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: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#4f46e5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;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--bg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: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#f4f5fb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--text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: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#1f2430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;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--muted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: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#6b7280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D2A8FF"/>
                </a:solidFill>
                <a:latin typeface="Courier New"/>
                <a:cs typeface="Courier New"/>
              </a:rPr>
              <a:t xml:space="preserve">.card 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{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background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: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#fff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;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border-radius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: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12px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padding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: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16px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;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box-shadow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: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0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1px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4px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#0001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D2A8FF"/>
                </a:solidFill>
                <a:latin typeface="Courier New"/>
                <a:cs typeface="Courier New"/>
              </a:rPr>
              <a:t xml:space="preserve">.grid 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{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display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: grid;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gap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: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16px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grid-template-columns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repeat(auto-fit, minmax(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280px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,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1fr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));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D2A8FF"/>
                </a:solidFill>
                <a:latin typeface="Courier New"/>
                <a:cs typeface="Courier New"/>
              </a:rPr>
              <a:t xml:space="preserve">.btn 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{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background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: var(--brand);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color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: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#fff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border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: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0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;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padding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: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9px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16px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      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border-radius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: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8px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;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cursor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: pointer;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8B949E"/>
                </a:solidFill>
                <a:latin typeface="Courier New"/>
                <a:cs typeface="Courier New"/>
              </a:rPr>
              <a:t>/* trainer panel looks different from the user app */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D2A8FF"/>
                </a:solidFill>
                <a:latin typeface="Courier New"/>
                <a:cs typeface="Courier New"/>
              </a:rPr>
              <a:t xml:space="preserve">body.trainer 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{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--brand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: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#0f766e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;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--bg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: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#eef6f5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D2A8FF"/>
                </a:solidFill>
                <a:latin typeface="Courier New"/>
                <a:cs typeface="Courier New"/>
              </a:rPr>
              <a:t xml:space="preserve">body.trainer header 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{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background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: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#111827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; </a:t>
            </a:r>
            <a:r>
              <a:rPr lang="en-US" sz="1100" b="0" i="0" dirty="0">
                <a:solidFill>
                  <a:srgbClr val="79C0FF"/>
                </a:solidFill>
                <a:latin typeface="Courier New"/>
                <a:cs typeface="Courier New"/>
              </a:rPr>
              <a:t>color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 xml:space="preserve">: </a:t>
            </a:r>
            <a:r>
              <a:rPr lang="en-US" sz="1100" b="0" i="0" dirty="0">
                <a:solidFill>
                  <a:srgbClr val="A5D6FF"/>
                </a:solidFill>
                <a:latin typeface="Courier New"/>
                <a:cs typeface="Courier New"/>
              </a:rPr>
              <a:t>#fff</a:t>
            </a:r>
            <a:r>
              <a:rPr lang="en-US" sz="1100" b="0" i="0" dirty="0">
                <a:solidFill>
                  <a:srgbClr val="E6EDF3"/>
                </a:solidFill>
                <a:latin typeface="Courier New"/>
                <a:cs typeface="Courier New"/>
              </a:rPr>
              <a:t>; }</a:t>
            </a:r>
          </a:p>
        </p:txBody>
      </p:sp>
    </p:spTree>
    <p:extLst>
      <p:ext uri="{BB962C8B-B14F-4D97-AF65-F5344CB8AC3E}">
        <p14:creationId xmlns:p14="http://schemas.microsoft.com/office/powerpoint/2010/main" val="12073886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6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7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8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9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10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1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1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804</TotalTime>
  <Words>41</Words>
  <Application>Microsoft Office PowerPoint</Application>
  <PresentationFormat>Widescreen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Times New Roman</vt:lpstr>
      <vt:lpstr>Verdana</vt:lpstr>
      <vt:lpstr>Wingdings</vt:lpstr>
      <vt:lpstr>Profile</vt:lpstr>
      <vt:lpstr>PowerPoint Presentation</vt:lpstr>
      <vt:lpstr>ABOUT THE INDUSTRY</vt:lpstr>
      <vt:lpstr>PROBLEM STATEMENT / OBJECTIVE</vt:lpstr>
      <vt:lpstr>TOOLS, TECHNOLOGIES AND IMPLEMENTATION</vt:lpstr>
      <vt:lpstr>INTERNSHIP OUTCOME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Rupmala R</dc:creator>
  <cp:lastModifiedBy>Rupmala R</cp:lastModifiedBy>
  <cp:revision>43</cp:revision>
  <dcterms:created xsi:type="dcterms:W3CDTF">2023-08-03T04:32:32Z</dcterms:created>
  <dcterms:modified xsi:type="dcterms:W3CDTF">2026-08-05T10:10:19Z</dcterms:modified>
</cp:coreProperties>
</file>